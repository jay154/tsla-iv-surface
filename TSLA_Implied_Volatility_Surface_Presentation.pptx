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721140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7315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TSLA Implied Volatility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2E86AB"/>
                </a:solidFill>
              </a:rPr>
              <a:t>From Raw Options Data to Market Skew and Term Structure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011680"/>
            <a:ext cx="3200400" cy="45720"/>
          </a:xfrm>
          <a:prstGeom prst="rect">
            <a:avLst/>
          </a:prstGeom>
          <a:solidFill>
            <a:srgbClr val="E83A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5943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>
                <a:solidFill>
                  <a:srgbClr val="FFFFFF"/>
                </a:solidFill>
              </a:rPr>
              <a:t>Black-Scholes assumes constant volatility — the market disagrees</a:t>
            </a:r>
          </a:p>
          <a:p>
            <a:pPr algn="l"/>
            <a:r>
              <a:rPr sz="1700">
                <a:solidFill>
                  <a:srgbClr val="FFFFFF"/>
                </a:solidFill>
              </a:rPr>
              <a:t>IV varies across strikes and maturities, forming a surface</a:t>
            </a:r>
          </a:p>
          <a:p>
            <a:pPr algn="l"/>
            <a:r>
              <a:rPr sz="1700">
                <a:solidFill>
                  <a:srgbClr val="FFFFFF"/>
                </a:solidFill>
              </a:rPr>
              <a:t>The surface encodes crash risk, regime fear, and event positioning</a:t>
            </a:r>
          </a:p>
          <a:p>
            <a:pPr algn="l"/>
            <a:r>
              <a:rPr sz="1700">
                <a:solidFill>
                  <a:srgbClr val="FFFFFF"/>
                </a:solidFill>
              </a:rPr>
              <a:t>Dataset: 2.6M TSLA option quotes, 2019–2022 → 638K IVs computed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35040"/>
            <a:ext cx="12188952" cy="822960"/>
          </a:xfrm>
          <a:prstGeom prst="rect">
            <a:avLst/>
          </a:prstGeom>
          <a:solidFill>
            <a:srgbClr val="0F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08076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E86AB"/>
                </a:solidFill>
              </a:rPr>
              <a:t>638,197 IVs Computed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608076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E86AB"/>
                </a:solidFill>
              </a:rPr>
              <a:t>Average IV: 66.70%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608076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E86AB"/>
                </a:solidFill>
              </a:rPr>
              <a:t>Risk-Free Rate: 3.9%</a:t>
            </a:r>
          </a:p>
        </p:txBody>
      </p:sp>
      <p:pic>
        <p:nvPicPr>
          <p:cNvPr id="10" name="Picture 9" descr="iv_surf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9622" y="1097280"/>
            <a:ext cx="53035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E86AB"/>
                </a:solidFill>
              </a:rPr>
              <a:t>From 2.6 Million Quotes to 638K Implied Volatilities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2377440" cy="13716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2E86AB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202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Raw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267712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4F6F8"/>
                </a:solidFill>
              </a:rPr>
              <a:t>2.6M EOD
option quotes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1874520"/>
            <a:ext cx="274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B2A4A"/>
                </a:solidFill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08960" y="1463040"/>
            <a:ext cx="2377440" cy="13716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108960" y="15544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2E86AB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19202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Liquidity Filter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2267712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4F6F8"/>
                </a:solidFill>
              </a:rPr>
              <a:t>5 criteria
→ 647K quotes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32120" y="1874520"/>
            <a:ext cx="274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B2A4A"/>
                </a:solidFill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60720" y="1463040"/>
            <a:ext cx="2377440" cy="13716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760720" y="15544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2E86AB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0" y="19202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IV Solver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0" y="2267712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4F6F8"/>
                </a:solidFill>
              </a:rPr>
              <a:t>Newton-Bisection
→ 638K IVs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80" y="1874520"/>
            <a:ext cx="274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B2A4A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12480" y="1463040"/>
            <a:ext cx="2377440" cy="13716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12480" y="15544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2E86AB"/>
                </a:solidFill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19202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IV Surface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2267712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4F6F8"/>
                </a:solidFill>
              </a:rPr>
              <a:t>Skew · Term Structure
· Event Study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0175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2A4A"/>
                </a:solidFill>
              </a:rPr>
              <a:t>Liquidity Filter Criteria: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3383280"/>
            <a:ext cx="502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l"/>
            <a:r>
              <a:rPr sz="1400">
                <a:solidFill>
                  <a:srgbClr val="222222"/>
                </a:solidFill>
              </a:rPr>
              <a:t>Call bid &gt; $0.50  —  removes penny options</a:t>
            </a:r>
          </a:p>
          <a:p>
            <a:pPr lvl="1" algn="l"/>
            <a:r>
              <a:rPr sz="1400">
                <a:solidFill>
                  <a:srgbClr val="222222"/>
                </a:solidFill>
              </a:rPr>
              <a:t>7 &lt; DTE &lt; 365  —  tradeable horizon only</a:t>
            </a:r>
          </a:p>
          <a:p>
            <a:pPr lvl="1" algn="l"/>
            <a:r>
              <a:rPr sz="1400">
                <a:solidFill>
                  <a:srgbClr val="222222"/>
                </a:solidFill>
              </a:rPr>
              <a:t>|Strike distance| &lt; 40%  —  smile region only</a:t>
            </a:r>
          </a:p>
          <a:p>
            <a:pPr lvl="1" algn="l"/>
            <a:r>
              <a:rPr sz="1400">
                <a:solidFill>
                  <a:srgbClr val="222222"/>
                </a:solidFill>
              </a:rPr>
              <a:t>Volume &gt; 0  —  active trading required</a:t>
            </a:r>
          </a:p>
          <a:p>
            <a:pPr lvl="1" algn="l"/>
            <a:r>
              <a:rPr sz="1400">
                <a:solidFill>
                  <a:srgbClr val="222222"/>
                </a:solidFill>
              </a:rPr>
              <a:t>Bid-ask spread &lt; 20% of mid  —  rejects stale quotes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0175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2A4A"/>
                </a:solidFill>
              </a:rPr>
              <a:t>IV Solver — Hybrid Newton-Bisection: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383280"/>
            <a:ext cx="53035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l"/>
            <a:r>
              <a:rPr sz="1400">
                <a:solidFill>
                  <a:srgbClr val="222222"/>
                </a:solidFill>
              </a:rPr>
              <a:t>Newton-Raphson: fast convergence near solution</a:t>
            </a:r>
          </a:p>
          <a:p>
            <a:pPr lvl="1" algn="l"/>
            <a:r>
              <a:rPr sz="1400">
                <a:solidFill>
                  <a:srgbClr val="222222"/>
                </a:solidFill>
              </a:rPr>
              <a:t>Bisection fallback: when vega &lt; 1e-6 or step escapes bounds</a:t>
            </a:r>
          </a:p>
          <a:p>
            <a:pPr lvl="1" algn="l"/>
            <a:r>
              <a:rPr sz="1400">
                <a:solidFill>
                  <a:srgbClr val="222222"/>
                </a:solidFill>
              </a:rPr>
              <a:t>Arbitrage pre-filter: rejects prices outside (S − Ke⁻ʳᵀ, S)</a:t>
            </a:r>
          </a:p>
          <a:p>
            <a:pPr lvl="1" algn="l"/>
            <a:r>
              <a:rPr sz="1400">
                <a:solidFill>
                  <a:srgbClr val="222222"/>
                </a:solidFill>
              </a:rPr>
              <a:t>Tolerance: 1e-8  |  Max iterations: 100</a:t>
            </a:r>
          </a:p>
          <a:p>
            <a:pPr lvl="1" algn="l"/>
            <a:r>
              <a:rPr sz="1400">
                <a:solidFill>
                  <a:srgbClr val="222222"/>
                </a:solidFill>
              </a:rPr>
              <a:t>Fully vectorized over NumPy arrays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IV Surface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E86AB"/>
                </a:solidFill>
              </a:rPr>
              <a:t>The Market Smiles, Not Flat</a:t>
            </a:r>
          </a:p>
        </p:txBody>
      </p:sp>
      <p:pic>
        <p:nvPicPr>
          <p:cNvPr id="5" name="Picture 4" descr="iv_surf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325880"/>
            <a:ext cx="6858000" cy="4114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315200" y="1325880"/>
            <a:ext cx="4572000" cy="484632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498079" y="146304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2A4A"/>
                </a:solidFill>
              </a:rPr>
              <a:t>Key Observations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201168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86AB"/>
                </a:solidFill>
              </a:rPr>
              <a:t>Gray plane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228600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</a:rPr>
              <a:t>= Black-Scholes constant-vol assumption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278892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86AB"/>
                </a:solidFill>
              </a:rPr>
              <a:t>Colored surface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306324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</a:rPr>
              <a:t>= what the market actually prices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3566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86AB"/>
                </a:solidFill>
              </a:rPr>
              <a:t>Put-side elevated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384048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</a:rPr>
              <a:t>OTM puts carry higher IV — crash insurance premium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434340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86AB"/>
                </a:solidFill>
              </a:rPr>
              <a:t>Short-maturity spike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461772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</a:rPr>
              <a:t>Near-term uncertainty priced higher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51206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86AB"/>
                </a:solidFill>
              </a:rPr>
              <a:t>Smile curvature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539496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</a:rPr>
              <a:t>IV lowest at ATM, rises on both wings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035040"/>
            <a:ext cx="12188952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65760" y="6053328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This surface is the empirical signature of fat tails — features Black-Scholes ignores by assuming log-normality. Heston, SABR, and local vol models were built to fit this shape.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E86AB"/>
                </a:solidFill>
              </a:rPr>
              <a:t>Skew · Term Structure · Event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3258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2A4A"/>
                </a:solidFill>
              </a:rPr>
              <a:t>Volatility Skew — Dec 2022, ~30 DTE</a:t>
            </a:r>
          </a:p>
        </p:txBody>
      </p:sp>
      <p:pic>
        <p:nvPicPr>
          <p:cNvPr id="6" name="Picture 5" descr="sk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0"/>
            <a:ext cx="5303520" cy="2011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0" y="132588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2A4A"/>
                </a:solidFill>
              </a:rPr>
              <a:t>ATM Term Structure — Dec 2022</a:t>
            </a:r>
          </a:p>
        </p:txBody>
      </p:sp>
      <p:pic>
        <p:nvPicPr>
          <p:cNvPr id="8" name="Picture 7" descr="term_stru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1645920"/>
            <a:ext cx="5943600" cy="2011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4320" y="37033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83A59"/>
                </a:solidFill>
              </a:rPr>
              <a:t>Put skew: OTM puts expensive = crash insurance premium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370332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83A59"/>
                </a:solidFill>
              </a:rPr>
              <a:t>Downward slope: near-term stress expected to resolve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411480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2A4A"/>
                </a:solidFill>
              </a:rPr>
              <a:t>Event Study: TSLA 5-for-1 Stock Split (Aug 2020) — Smile flipped from put-skew to call-skew as retail FOMO peaked</a:t>
            </a:r>
          </a:p>
        </p:txBody>
      </p:sp>
      <p:pic>
        <p:nvPicPr>
          <p:cNvPr id="12" name="Picture 11" descr="smile_evolu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4434840"/>
            <a:ext cx="1161288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Why It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E86AB"/>
                </a:solidFill>
              </a:rPr>
              <a:t>What the Surface Tells You That Black-Scholes Can't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3657600" cy="4572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472184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Black-Scholes Assumes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1417320"/>
            <a:ext cx="365760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389120" y="1472184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Market Reality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74520"/>
            <a:ext cx="3657600" cy="5943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89120" y="1874520"/>
            <a:ext cx="3657600" cy="5943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1984248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</a:rPr>
              <a:t>Constant volatility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1984248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2A4A"/>
                </a:solidFill>
              </a:rPr>
              <a:t>Volatility surface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468880"/>
            <a:ext cx="365760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389120" y="2468880"/>
            <a:ext cx="365760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" y="2578608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</a:rPr>
              <a:t>Log-normal returns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2578608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2A4A"/>
                </a:solidFill>
              </a:rPr>
              <a:t>Fat tails + skewness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63240"/>
            <a:ext cx="3657600" cy="5943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389120" y="3063240"/>
            <a:ext cx="3657600" cy="5943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94360" y="3172968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</a:rPr>
              <a:t>Static model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3172968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2A4A"/>
                </a:solidFill>
              </a:rPr>
              <a:t>Dynamic, regime-sensitive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657600"/>
            <a:ext cx="365760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389120" y="3657600"/>
            <a:ext cx="365760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94360" y="3767328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</a:rPr>
              <a:t>One number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767328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2A4A"/>
                </a:solidFill>
              </a:rPr>
              <a:t>A landscape of information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14173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2A4A"/>
                </a:solidFill>
              </a:rPr>
              <a:t>5 Key Takeaways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1920240"/>
            <a:ext cx="3474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222222"/>
                </a:solidFill>
              </a:rPr>
              <a:t>BS is empirically wrong — market prices a smile</a:t>
            </a:r>
          </a:p>
          <a:p>
            <a:pPr algn="l"/>
            <a:r>
              <a:rPr sz="1400">
                <a:solidFill>
                  <a:srgbClr val="222222"/>
                </a:solidFill>
              </a:rPr>
              <a:t>Skew = crash fear, priced in real time</a:t>
            </a:r>
          </a:p>
          <a:p>
            <a:pPr algn="l"/>
            <a:r>
              <a:rPr sz="1400">
                <a:solidFill>
                  <a:srgbClr val="222222"/>
                </a:solidFill>
              </a:rPr>
              <a:t>Term structure = when the market expects stress</a:t>
            </a:r>
          </a:p>
          <a:p>
            <a:pPr algn="l"/>
            <a:r>
              <a:rPr sz="1400">
                <a:solidFill>
                  <a:srgbClr val="222222"/>
                </a:solidFill>
              </a:rPr>
              <a:t>Surface shape shifts with regime, not just level</a:t>
            </a:r>
          </a:p>
          <a:p>
            <a:pPr algn="l"/>
            <a:r>
              <a:rPr sz="1400">
                <a:solidFill>
                  <a:srgbClr val="222222"/>
                </a:solidFill>
              </a:rPr>
              <a:t>Events distort the surface — predictably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577840"/>
            <a:ext cx="7589520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0080" y="56235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Natural Extensions: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9893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E86AB"/>
                </a:solidFill>
              </a:rPr>
              <a:t>Local Vol (Dupire)   ·   Stochastic Vol (Heston / SABR)   ·   Vol Regime Classifier</a:t>
            </a:r>
          </a:p>
        </p:txBody>
      </p:sp>
      <p:pic>
        <p:nvPicPr>
          <p:cNvPr id="30" name="Picture 29" descr="regime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3657600"/>
            <a:ext cx="3749039" cy="20116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467</Words>
  <Application>Microsoft Office PowerPoint</Application>
  <PresentationFormat>Custom</PresentationFormat>
  <Paragraphs>79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Botchway, Jarrad (S&amp;T-Student)</cp:lastModifiedBy>
  <cp:revision>4</cp:revision>
  <dcterms:created xsi:type="dcterms:W3CDTF">2013-01-27T09:14:16Z</dcterms:created>
  <dcterms:modified xsi:type="dcterms:W3CDTF">2026-03-22T03:37:50Z</dcterms:modified>
  <cp:category/>
</cp:coreProperties>
</file>