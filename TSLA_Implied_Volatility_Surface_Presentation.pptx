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114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TSLA Implied Volatility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E86AB"/>
                </a:solidFill>
              </a:rPr>
              <a:t>From Raw Options Data to Market Skew and Term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3200400" cy="45720"/>
          </a:xfrm>
          <a:prstGeom prst="rect">
            <a:avLst/>
          </a:prstGeom>
          <a:solidFill>
            <a:srgbClr val="E83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</a:rPr>
              <a:t>Black-Scholes assumes constant volatility — the market disagrees</a:t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>IV varies across strikes and maturities, forming a surface</a:t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>The surface encodes crash risk, regime fear, and event positioning</a:t>
            </a:r>
          </a:p>
          <a:p>
            <a:pPr algn="l"/>
            <a:r>
              <a:rPr sz="1700">
                <a:solidFill>
                  <a:srgbClr val="FFFFFF"/>
                </a:solidFill>
              </a:rPr>
              <a:t>Dataset: 2.6M TSLA option quotes, 2019–2022 → 638K IVs computed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080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86AB"/>
                </a:solidFill>
              </a:rPr>
              <a:t>638,197 IVs Computed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080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86AB"/>
                </a:solidFill>
              </a:rPr>
              <a:t>Average IV: 66.70%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080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86AB"/>
                </a:solidFill>
              </a:rPr>
              <a:t>Risk-Free Rate: 3.9%</a:t>
            </a:r>
          </a:p>
        </p:txBody>
      </p:sp>
      <p:pic>
        <p:nvPicPr>
          <p:cNvPr id="10" name="Picture 9" descr="iv_su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622" y="109728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E86AB"/>
                </a:solidFill>
              </a:rPr>
              <a:t>From 2.6 Million Quotes to 638K Implied Volatilities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377440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86AB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677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F6F8"/>
                </a:solidFill>
              </a:rPr>
              <a:t>2.6M EOD
option quotes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87452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463040"/>
            <a:ext cx="2377440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86AB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Liquidity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677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F6F8"/>
                </a:solidFill>
              </a:rPr>
              <a:t>5 criteria
→ 647K quotes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187452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1463040"/>
            <a:ext cx="2377440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86AB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IV Solver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2677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F6F8"/>
                </a:solidFill>
              </a:rPr>
              <a:t>Newton-Bisection
→ 638K IVs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187452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463040"/>
            <a:ext cx="2377440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86AB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IV Surface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677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F6F8"/>
                </a:solidFill>
              </a:rPr>
              <a:t>Skew · Term Structure
· Event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</a:rPr>
              <a:t>Liquidity Filter Criteria: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3832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/>
            <a:r>
              <a:rPr sz="1400">
                <a:solidFill>
                  <a:srgbClr val="222222"/>
                </a:solidFill>
              </a:rPr>
              <a:t>Call bid &gt; $0.50  —  removes penny options</a:t>
            </a:r>
          </a:p>
          <a:p>
            <a:pPr lvl="1" algn="l"/>
            <a:r>
              <a:rPr sz="1400">
                <a:solidFill>
                  <a:srgbClr val="222222"/>
                </a:solidFill>
              </a:rPr>
              <a:t>7 &lt; DTE &lt; 365  —  tradeable horizon only</a:t>
            </a:r>
          </a:p>
          <a:p>
            <a:pPr lvl="1" algn="l"/>
            <a:r>
              <a:rPr sz="1400">
                <a:solidFill>
                  <a:srgbClr val="222222"/>
                </a:solidFill>
              </a:rPr>
              <a:t>|Strike distance| &lt; 40%  —  smile region only</a:t>
            </a:r>
          </a:p>
          <a:p>
            <a:pPr lvl="1" algn="l"/>
            <a:r>
              <a:rPr sz="1400">
                <a:solidFill>
                  <a:srgbClr val="222222"/>
                </a:solidFill>
              </a:rPr>
              <a:t>Volume &gt; 0  —  active trading required</a:t>
            </a:r>
          </a:p>
          <a:p>
            <a:pPr lvl="1" algn="l"/>
            <a:r>
              <a:rPr sz="1400">
                <a:solidFill>
                  <a:srgbClr val="222222"/>
                </a:solidFill>
              </a:rPr>
              <a:t>Bid-ask spread &lt; 20% of mid  —  rejects stale quotes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17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</a:rPr>
              <a:t>IV Solver — Hybrid Newton-Bisection: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8328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/>
            <a:r>
              <a:rPr sz="1400">
                <a:solidFill>
                  <a:srgbClr val="222222"/>
                </a:solidFill>
              </a:rPr>
              <a:t>Newton-Raphson: fast convergence near solution</a:t>
            </a:r>
          </a:p>
          <a:p>
            <a:pPr lvl="1" algn="l"/>
            <a:r>
              <a:rPr sz="1400">
                <a:solidFill>
                  <a:srgbClr val="222222"/>
                </a:solidFill>
              </a:rPr>
              <a:t>Bisection fallback: when vega &lt; 1e-6 or step escapes bounds</a:t>
            </a:r>
          </a:p>
          <a:p>
            <a:pPr lvl="1" algn="l"/>
            <a:r>
              <a:rPr sz="1400">
                <a:solidFill>
                  <a:srgbClr val="222222"/>
                </a:solidFill>
              </a:rPr>
              <a:t>Arbitrage pre-filter: rejects prices outside (S − Ke⁻ʳᵀ, S)</a:t>
            </a:r>
          </a:p>
          <a:p>
            <a:pPr lvl="1" algn="l"/>
            <a:r>
              <a:rPr sz="1400">
                <a:solidFill>
                  <a:srgbClr val="222222"/>
                </a:solidFill>
              </a:rPr>
              <a:t>Tolerance: 1e-8  |  Max iterations: 100</a:t>
            </a:r>
          </a:p>
          <a:p>
            <a:pPr lvl="1" algn="l"/>
            <a:r>
              <a:rPr sz="1400">
                <a:solidFill>
                  <a:srgbClr val="222222"/>
                </a:solidFill>
              </a:rPr>
              <a:t>Fully vectorized over NumPy arrays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IV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E86AB"/>
                </a:solidFill>
              </a:rPr>
              <a:t>The Market Smiles, Not Flat</a:t>
            </a:r>
          </a:p>
        </p:txBody>
      </p:sp>
      <p:pic>
        <p:nvPicPr>
          <p:cNvPr id="5" name="Picture 4" descr="iv_su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25880"/>
            <a:ext cx="68580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0" y="1325880"/>
            <a:ext cx="4572000" cy="48463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79" y="14630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</a:rP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011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6AB"/>
                </a:solidFill>
              </a:rPr>
              <a:t>Gray plane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2860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= Black-Scholes constant-vol assumption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788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6AB"/>
                </a:solidFill>
              </a:rPr>
              <a:t>Colored 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0632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= what the market actually prices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566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6AB"/>
                </a:solidFill>
              </a:rPr>
              <a:t>Put-side elevated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8404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OTM puts carry higher IV — crash insurance premium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343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6AB"/>
                </a:solidFill>
              </a:rPr>
              <a:t>Short-maturity spike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6177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Near-term uncertainty priced higher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5120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6AB"/>
                </a:solidFill>
              </a:rPr>
              <a:t>Smile curvature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3949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IV lowest at ATM, rises on both wings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60533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This surface is the empirical signature of fat tails — features Black-Scholes ignores by assuming log-normality. Heston, SABR, and local vol models were built to fit this shape.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E86AB"/>
                </a:solidFill>
              </a:rPr>
              <a:t>Skew · Term Structure · Event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</a:rPr>
              <a:t>Volatility Skew — Dec 2022, ~30 DTE</a:t>
            </a:r>
          </a:p>
        </p:txBody>
      </p:sp>
      <p:pic>
        <p:nvPicPr>
          <p:cNvPr id="6" name="Picture 5" descr="sk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0"/>
            <a:ext cx="530352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3258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</a:rPr>
              <a:t>ATM Term Structure — Dec 2022</a:t>
            </a:r>
          </a:p>
        </p:txBody>
      </p:sp>
      <p:pic>
        <p:nvPicPr>
          <p:cNvPr id="8" name="Picture 7" descr="term_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645920"/>
            <a:ext cx="594360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3A59"/>
                </a:solidFill>
              </a:rPr>
              <a:t>Put skew: OTM puts expensive = crash insurance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703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3A59"/>
                </a:solidFill>
              </a:rPr>
              <a:t>Downward slope: near-term stress expected to resolve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114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</a:rPr>
              <a:t>Event Study: TSLA 5-for-1 Stock Split (Aug 2020) — Put-call skew compressed to its narrowest point (+3.5 vol pts) as retail FOMO peaked — but never inverted</a:t>
            </a:r>
          </a:p>
        </p:txBody>
      </p:sp>
      <p:pic>
        <p:nvPicPr>
          <p:cNvPr id="12" name="Picture 11" descr="smile_evol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434840"/>
            <a:ext cx="1161288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E86AB"/>
                </a:solidFill>
              </a:rPr>
              <a:t>What the Surface Tells You That Black-Scholes Can't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6576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721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Black-Scholes Assumes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17320"/>
            <a:ext cx="36576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14721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Market Reality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365760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874520"/>
            <a:ext cx="365760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98424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Constant volatility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8424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</a:rPr>
              <a:t>Volatility surface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246888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5786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Log-normal returns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5786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</a:rPr>
              <a:t>Fat tails + skewness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63240"/>
            <a:ext cx="365760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3063240"/>
            <a:ext cx="365760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17296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Static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17296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</a:rPr>
              <a:t>Dynamic, regime-sensitive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65760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76732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One number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76732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</a:rPr>
              <a:t>A landscape of information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</a:rPr>
              <a:t>5 Key Takeaways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920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22222"/>
                </a:solidFill>
              </a:rPr>
              <a:t>BS is empirically wrong — market prices a smile</a:t>
            </a:r>
          </a:p>
          <a:p>
            <a:pPr algn="l"/>
            <a:r>
              <a:rPr sz="1400">
                <a:solidFill>
                  <a:srgbClr val="222222"/>
                </a:solidFill>
              </a:rPr>
              <a:t>Skew = crash fear, priced in real time</a:t>
            </a:r>
          </a:p>
          <a:p>
            <a:pPr algn="l"/>
            <a:r>
              <a:rPr sz="1400">
                <a:solidFill>
                  <a:srgbClr val="222222"/>
                </a:solidFill>
              </a:rPr>
              <a:t>Term structure = when the market expects stress</a:t>
            </a:r>
          </a:p>
          <a:p>
            <a:pPr algn="l"/>
            <a:r>
              <a:rPr sz="1400">
                <a:solidFill>
                  <a:srgbClr val="222222"/>
                </a:solidFill>
              </a:rPr>
              <a:t>Surface shape shifts with regime, not just level</a:t>
            </a:r>
          </a:p>
          <a:p>
            <a:pPr algn="l"/>
            <a:r>
              <a:rPr sz="1400">
                <a:solidFill>
                  <a:srgbClr val="222222"/>
                </a:solidFill>
              </a:rPr>
              <a:t>Events distort the surface — predictably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77840"/>
            <a:ext cx="758952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Natural Extensions: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9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86AB"/>
                </a:solidFill>
              </a:rPr>
              <a:t>Local Vol (Dupire)   ·   Stochastic Vol (Heston / SABR)   ·   Vol Regime Classifier</a:t>
            </a:r>
          </a:p>
        </p:txBody>
      </p:sp>
      <p:pic>
        <p:nvPicPr>
          <p:cNvPr id="30" name="Picture 29" descr="regim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0"/>
            <a:ext cx="3749039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467</Words>
  <Application>Microsoft Office PowerPoint</Application>
  <PresentationFormat>Custom</PresentationFormat>
  <Paragraphs>79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Botchway, Jarrad (S&amp;T-Student)</cp:lastModifiedBy>
  <cp:revision>4</cp:revision>
  <dcterms:created xsi:type="dcterms:W3CDTF">2013-01-27T09:14:16Z</dcterms:created>
  <dcterms:modified xsi:type="dcterms:W3CDTF">2026-03-22T03:37:50Z</dcterms:modified>
  <cp:category/>
</cp:coreProperties>
</file>